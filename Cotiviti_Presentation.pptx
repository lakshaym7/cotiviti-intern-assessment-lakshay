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2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energy: name the topic chosen, and that this covers both the written research and a working prototype, built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orgs process millions of claims a year, each needing a human to read messy notes, cross-check codes, and apply policy that keeps changing. That gap — unstructured text needing structured, defensible judgment — is what agentic AI is built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 the report's back half here: the industry is moving toward RAG-grounded, multi-agent, explainable systems. Cotiviti's edge is domain depth plus a deterministic rule layer — faster, more consistent throughput, and a foundation that extends into fraud detection, prior auth, and risk adjustment. That rule layer, not the prompt, is the real moat worth investing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agents, each a distinct technology — LLM extraction, deterministic rules, retrieval-augmented generation, LLM synthesis — plus a deterministic override sitting outside the chain entirely. Every stage also runs through a dedicated guardrail layer, covered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 added after the original design: an input gate that blocks bad input before any agent runs, a format check on the extraction output, and a final check plus a hard clamp on the synthesis output before the override logic ever sees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 automated tests across guardrails, both agents, and full end-to-end verdicts — all passing, and all runnable offline in mock mode, so a reviewer can verify this themselves without needing an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screenshare. Walk claim 1 (clean approve) through to claim 5 (override beats a confident LLM) per the demo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takeaway — the override is the whole thesis. Thank the panel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1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6B2D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6B2D8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Explainable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Decision Support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 &amp; Agentic Generative AI for Treatment, Payment &amp; Operations (TPO)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1097280" cy="0"/>
          </a:xfrm>
          <a:prstGeom prst="line">
            <a:avLst/>
          </a:prstGeom>
          <a:noFill/>
          <a:ln w="31750">
            <a:solidFill>
              <a:srgbClr val="C99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Madan Gopal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Candidate — Generative AI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3" name="Image 0" descr="icons/invo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OVERVIEW · 1 OF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Claims Review Doesn't Scale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F4EFF9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8" name="Image 1" descr="icons/invoic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19065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3152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processed annually, each requiring physician notes, ICD-10/CPT codes, and payer policy interpreted by a human reviewer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60520" y="141732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F4EFF9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1783080"/>
            <a:ext cx="548640" cy="548640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13" name="Image 2" descr="icons/clo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19065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484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43484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clinical notes and constantly evolving reimbursement policy push claims into lengthy manual review queues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63840" y="141732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F4EFF9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83880" y="1783080"/>
            <a:ext cx="548640" cy="548640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18" name="Image 3" descr="icons/warning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324" y="190652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3816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813816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reviewer judgment drives rework, appeals, and compliance risk — without a fully automatable rule set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automation alone cannot keep pace with unstructured documentation and evolving policy — this is exactly the gap agentic AI is built to close.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Explainable Clinical Decision Support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3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OVERVIEW · 2 OF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Strategic Recommendation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4EFF9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icons/char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" y="1729359"/>
            <a:ext cx="427482" cy="4274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 as the default grounding layer to cut hallucination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31520" y="3657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Multi-agent pipelines replacing single monolithic prompts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31520" y="4617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Explainability becoming a regulatory baseline, not a nice-to-have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70248" y="141732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4EF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544568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287" y="1729359"/>
            <a:ext cx="427482" cy="4274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44568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44568" y="2697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Domain depth + a deterministic rule layer beat generic AI vendors on accuracy &amp; auditability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44568" y="38862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Faster, more consistent reviewer throughput at scale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44568" y="50749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scalable foundation for fraud detection, prior authorization, and risk adjustment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83296" y="141732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421A57"/>
          </a:solidFill>
          <a:ln/>
        </p:spPr>
      </p:sp>
      <p:sp>
        <p:nvSpPr>
          <p:cNvPr id="21" name="Shape 16"/>
          <p:cNvSpPr/>
          <p:nvPr/>
        </p:nvSpPr>
        <p:spPr>
          <a:xfrm>
            <a:off x="8357616" y="1691640"/>
            <a:ext cx="502920" cy="502920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22" name="Image 3" descr="icons/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79222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57616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357616" y="26974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 Explainable Claims Review Copilot — a 4-agent architecture with deterministic guardrails — on one claim type first, validated against a golden dataset, before scaling enterprise-wide.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357616" y="48006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rule layer — not the LLM prompt — is the durable, defensible moat.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Explainable Clinical Decision Support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3" name="Image 0" descr="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Architecture &amp; Core Techniques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2C2C2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4356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pic>
        <p:nvPicPr>
          <p:cNvPr id="9" name="Image 1" descr="icons/arrow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1659636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50008" y="123444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6B2D8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956" y="135331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50008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350008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pic>
        <p:nvPicPr>
          <p:cNvPr id="14" name="Image 3" descr="icons/arrow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1659636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334256" y="123444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6B2D8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4" descr="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204" y="1353312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34256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334256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pic>
        <p:nvPicPr>
          <p:cNvPr id="19" name="Image 5" descr="icons/arrow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59636"/>
            <a:ext cx="182880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318504" y="123444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6B2D8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6" descr="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5452" y="1353312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318504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6318504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pic>
        <p:nvPicPr>
          <p:cNvPr id="24" name="Image 7" descr="icons/arrow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659636"/>
            <a:ext cx="182880" cy="18288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302752" y="123444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6B2D8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8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1353312"/>
            <a:ext cx="329184" cy="32918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302752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8302752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9194292" y="2286000"/>
            <a:ext cx="0" cy="228600"/>
          </a:xfrm>
          <a:prstGeom prst="line">
            <a:avLst/>
          </a:prstGeom>
          <a:noFill/>
          <a:ln w="25400">
            <a:solidFill>
              <a:srgbClr val="B7791F"/>
            </a:solidFill>
            <a:prstDash val="dash"/>
          </a:ln>
        </p:spPr>
      </p:sp>
      <p:sp>
        <p:nvSpPr>
          <p:cNvPr id="30" name="Shape 19"/>
          <p:cNvSpPr/>
          <p:nvPr/>
        </p:nvSpPr>
        <p:spPr>
          <a:xfrm>
            <a:off x="4937760" y="2514600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5074920" y="25786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9" descr="icons/usershield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7838" y="2611526"/>
            <a:ext cx="373075" cy="37307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623560" y="25694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Check — confidence &lt; 70% OR coding conflict  </a:t>
            </a: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forces Escalate to Human Reviewer, regardless of the LLM's answer.</a:t>
            </a:r>
            <a:endParaRPr lang="en-US" sz="1050" dirty="0"/>
          </a:p>
        </p:txBody>
      </p:sp>
      <p:sp>
        <p:nvSpPr>
          <p:cNvPr id="34" name="Text 22"/>
          <p:cNvSpPr/>
          <p:nvPr/>
        </p:nvSpPr>
        <p:spPr>
          <a:xfrm>
            <a:off x="4937760" y="31363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verdict: Approve · Deny · Escalate</a:t>
            </a:r>
            <a:endParaRPr lang="en-US" sz="1050" dirty="0"/>
          </a:p>
        </p:txBody>
      </p:sp>
      <p:sp>
        <p:nvSpPr>
          <p:cNvPr id="35" name="Shape 23"/>
          <p:cNvSpPr/>
          <p:nvPr/>
        </p:nvSpPr>
        <p:spPr>
          <a:xfrm>
            <a:off x="457200" y="347472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4EFF9"/>
          </a:solidFill>
          <a:ln/>
        </p:spPr>
      </p:sp>
      <p:sp>
        <p:nvSpPr>
          <p:cNvPr id="36" name="Shape 24"/>
          <p:cNvSpPr/>
          <p:nvPr/>
        </p:nvSpPr>
        <p:spPr>
          <a:xfrm>
            <a:off x="621792" y="3639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10" descr="icons/brain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203" y="3725723"/>
            <a:ext cx="211226" cy="21122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78992" y="3621024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150" dirty="0"/>
          </a:p>
        </p:txBody>
      </p:sp>
      <p:sp>
        <p:nvSpPr>
          <p:cNvPr id="39" name="Text 26"/>
          <p:cNvSpPr/>
          <p:nvPr/>
        </p:nvSpPr>
        <p:spPr>
          <a:xfrm>
            <a:off x="621792" y="4096512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structuring of free-text notes into typed JSON — no per-format parser.</a:t>
            </a:r>
            <a:endParaRPr lang="en-US" sz="1000" dirty="0"/>
          </a:p>
        </p:txBody>
      </p:sp>
      <p:sp>
        <p:nvSpPr>
          <p:cNvPr id="40" name="Shape 27"/>
          <p:cNvSpPr/>
          <p:nvPr/>
        </p:nvSpPr>
        <p:spPr>
          <a:xfrm>
            <a:off x="3319272" y="347472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4EFF9"/>
          </a:solidFill>
          <a:ln/>
        </p:spPr>
      </p:sp>
      <p:sp>
        <p:nvSpPr>
          <p:cNvPr id="41" name="Shape 28"/>
          <p:cNvSpPr/>
          <p:nvPr/>
        </p:nvSpPr>
        <p:spPr>
          <a:xfrm>
            <a:off x="3483864" y="3639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11" descr="icons/shield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0275" y="3725723"/>
            <a:ext cx="211226" cy="21122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941064" y="3621024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150" dirty="0"/>
          </a:p>
        </p:txBody>
      </p:sp>
      <p:sp>
        <p:nvSpPr>
          <p:cNvPr id="44" name="Text 30"/>
          <p:cNvSpPr/>
          <p:nvPr/>
        </p:nvSpPr>
        <p:spPr>
          <a:xfrm>
            <a:off x="3483864" y="4096512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Negation-aware regex validates ICD-10/CPT pairs — zero LLM calls, same input, same output.</a:t>
            </a:r>
            <a:endParaRPr lang="en-US" sz="1000" dirty="0"/>
          </a:p>
        </p:txBody>
      </p:sp>
      <p:sp>
        <p:nvSpPr>
          <p:cNvPr id="45" name="Shape 31"/>
          <p:cNvSpPr/>
          <p:nvPr/>
        </p:nvSpPr>
        <p:spPr>
          <a:xfrm>
            <a:off x="6181344" y="347472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4EFF9"/>
          </a:solidFill>
          <a:ln/>
        </p:spPr>
      </p:sp>
      <p:sp>
        <p:nvSpPr>
          <p:cNvPr id="46" name="Shape 32"/>
          <p:cNvSpPr/>
          <p:nvPr/>
        </p:nvSpPr>
        <p:spPr>
          <a:xfrm>
            <a:off x="6345936" y="3639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12" descr="icons/search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2347" y="3725723"/>
            <a:ext cx="211226" cy="211226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803136" y="3621024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150" dirty="0"/>
          </a:p>
        </p:txBody>
      </p:sp>
      <p:sp>
        <p:nvSpPr>
          <p:cNvPr id="49" name="Text 34"/>
          <p:cNvSpPr/>
          <p:nvPr/>
        </p:nvSpPr>
        <p:spPr>
          <a:xfrm>
            <a:off x="6345936" y="4096512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grounds the recommendation in a real policy chunk — no vector DB.</a:t>
            </a:r>
            <a:endParaRPr lang="en-US" sz="1000" dirty="0"/>
          </a:p>
        </p:txBody>
      </p:sp>
      <p:sp>
        <p:nvSpPr>
          <p:cNvPr id="50" name="Shape 35"/>
          <p:cNvSpPr/>
          <p:nvPr/>
        </p:nvSpPr>
        <p:spPr>
          <a:xfrm>
            <a:off x="9043416" y="347472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F4EFF9"/>
          </a:solidFill>
          <a:ln/>
        </p:spPr>
      </p:sp>
      <p:sp>
        <p:nvSpPr>
          <p:cNvPr id="51" name="Shape 36"/>
          <p:cNvSpPr/>
          <p:nvPr/>
        </p:nvSpPr>
        <p:spPr>
          <a:xfrm>
            <a:off x="9208008" y="36393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13" descr="icons/balance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4419" y="3725723"/>
            <a:ext cx="211226" cy="21122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9665208" y="3621024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+ Override</a:t>
            </a:r>
            <a:endParaRPr lang="en-US" sz="1150" dirty="0"/>
          </a:p>
        </p:txBody>
      </p:sp>
      <p:sp>
        <p:nvSpPr>
          <p:cNvPr id="54" name="Text 38"/>
          <p:cNvSpPr/>
          <p:nvPr/>
        </p:nvSpPr>
        <p:spPr>
          <a:xfrm>
            <a:off x="9208008" y="4096512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synthesizes a cited recommendation; a hard-coded check outside the model can still escalate.</a:t>
            </a:r>
            <a:endParaRPr lang="en-US" sz="1000" dirty="0"/>
          </a:p>
        </p:txBody>
      </p:sp>
      <p:sp>
        <p:nvSpPr>
          <p:cNvPr id="55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Explainable Clinical Decision Support</a:t>
            </a:r>
            <a:endParaRPr lang="en-US" sz="1000" dirty="0"/>
          </a:p>
        </p:txBody>
      </p:sp>
      <p:sp>
        <p:nvSpPr>
          <p:cNvPr id="56" name="Text 4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3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Three Layers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EFF9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icons/shield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186080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 Guardrail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3152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validate_input()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31520" y="3127248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pipeline before any agent runs if the note is under 80 characters, contains a prompt-injection pattern (e.g. “ignore previous instructions”), or has no recognizable medical content.</a:t>
            </a:r>
            <a:endParaRPr lang="en-US" sz="1150" dirty="0"/>
          </a:p>
        </p:txBody>
      </p:sp>
      <p:pic>
        <p:nvPicPr>
          <p:cNvPr id="12" name="Image 2" descr="icons/arrow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3502152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70248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EFF9"/>
          </a:solidFill>
          <a:ln/>
        </p:spPr>
      </p:sp>
      <p:sp>
        <p:nvSpPr>
          <p:cNvPr id="14" name="Shape 9"/>
          <p:cNvSpPr/>
          <p:nvPr/>
        </p:nvSpPr>
        <p:spPr>
          <a:xfrm>
            <a:off x="4544568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icons/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012" y="1860804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44568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Extraction Guardrail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544568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validate_extraction()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44568" y="3127248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ICD-10 format (^[A-Z]\d{2}(\.\d{1,4}[A-Z0-9]?)?$), CPT format (^\d{5}$), and that diagnosis, body site, and procedure fields are non-empty.</a:t>
            </a:r>
            <a:endParaRPr lang="en-US" sz="1150" dirty="0"/>
          </a:p>
        </p:txBody>
      </p:sp>
      <p:pic>
        <p:nvPicPr>
          <p:cNvPr id="19" name="Image 4" descr="icons/arrow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3502152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083296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EFF9"/>
          </a:solidFill>
          <a:ln/>
        </p:spPr>
      </p:sp>
      <p:sp>
        <p:nvSpPr>
          <p:cNvPr id="21" name="Shape 14"/>
          <p:cNvSpPr/>
          <p:nvPr/>
        </p:nvSpPr>
        <p:spPr>
          <a:xfrm>
            <a:off x="8357616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icons/balanc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1860804"/>
            <a:ext cx="301752" cy="30175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57616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Synthesis Guardrail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8357616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validate_synthesis()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8357616" y="3127248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recommendation is Approve / Deny / Escalate, confidence is present and an explanation exists. Confidence is hard-clamped to 0–100 before the override rule ever runs.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Explainable Clinical Decision Support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3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11607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217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 — 46 / 46 Passing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178040" cy="4206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guardrail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empty, too-short, injection, non-medical, 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guardrail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ICD-10/CPT, bad recommendation, out-of-range confidence, missing explanation, 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2 — coding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status, conflict flag, denial indicator — all 5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3 — policy retrieval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snippet count, top policy ID, similarity threshold — all 5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pipeline, mock mode, correct final verdict incl. override — all 5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417320"/>
            <a:ext cx="3840480" cy="2331720"/>
          </a:xfrm>
          <a:prstGeom prst="roundRect">
            <a:avLst>
              <a:gd name="adj" fmla="val 2353"/>
            </a:avLst>
          </a:prstGeom>
          <a:solidFill>
            <a:srgbClr val="2C2C2C"/>
          </a:solidFill>
          <a:ln/>
        </p:spPr>
      </p:sp>
      <p:sp>
        <p:nvSpPr>
          <p:cNvPr id="8" name="Text 4"/>
          <p:cNvSpPr/>
          <p:nvPr/>
        </p:nvSpPr>
        <p:spPr>
          <a:xfrm>
            <a:off x="809244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tests.py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92440" y="2057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46 tests in 0.41s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— no API key needed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863840" y="397764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E8F5EC"/>
          </a:solidFill>
          <a:ln/>
        </p:spPr>
      </p:sp>
      <p:sp>
        <p:nvSpPr>
          <p:cNvPr id="12" name="Shape 8"/>
          <p:cNvSpPr/>
          <p:nvPr/>
        </p:nvSpPr>
        <p:spPr>
          <a:xfrm>
            <a:off x="8092440" y="41422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159" y="4179951"/>
            <a:ext cx="427482" cy="4274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/ 46 PASSING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778240" y="4572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runs offline — reviewers can verify without an API key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Explainable Clinical Decision Support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21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6B2D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1828800"/>
            <a:ext cx="1005840" cy="1005840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4" name="Image 0" descr="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0299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1089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sample claims · 4 agents · 3 guardrail layers · 1 override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480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walkthrough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Explainable Clinical Decision Support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21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011680"/>
            <a:ext cx="5486400" cy="5486400"/>
          </a:xfrm>
          <a:prstGeom prst="ellipse">
            <a:avLst/>
          </a:prstGeom>
          <a:solidFill>
            <a:srgbClr val="6B2D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6B2D8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640080" cy="640080"/>
          </a:xfrm>
          <a:prstGeom prst="ellipse">
            <a:avLst/>
          </a:prstGeom>
          <a:solidFill>
            <a:srgbClr val="6B2D8B"/>
          </a:solidFill>
          <a:ln/>
        </p:spPr>
      </p:sp>
      <p:pic>
        <p:nvPicPr>
          <p:cNvPr id="5" name="Image 0" descr="icons/fla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3167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earns trust in healthcare payment integrity not by replacing reviewers — but by being the one part of the system that always knows when to ask for help.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1097280" cy="0"/>
          </a:xfrm>
          <a:prstGeom prst="line">
            <a:avLst/>
          </a:prstGeom>
          <a:noFill/>
          <a:ln w="31750">
            <a:solidFill>
              <a:srgbClr val="C99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Working 4-agent POC with guardrails &amp; 46 automated tests · This presentation.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Explainable Clinical Decision Support</dc:title>
  <dc:subject>PptxGenJS Presentation</dc:subject>
  <dc:creator>Lakshay</dc:creator>
  <cp:lastModifiedBy>Lakshay Madan Gopal</cp:lastModifiedBy>
  <cp:revision>2</cp:revision>
  <dcterms:created xsi:type="dcterms:W3CDTF">2026-06-26T23:30:54Z</dcterms:created>
  <dcterms:modified xsi:type="dcterms:W3CDTF">2026-06-26T23:39:13Z</dcterms:modified>
</cp:coreProperties>
</file>